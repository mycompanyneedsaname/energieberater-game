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Roter Faden: Was muss ich nach dem Kurs administrativ erledigen, wie komme ich an den ersten Kunden, wie starte ich das erste Projekt sauber? Sechs Stationen, dann drei Quizfragen.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Verwaltung (Listung, DIBt, Versicherung), dann Akquise, dann das Projekt. Die Reihenfolge ist wichtig: Ohne Listung keine Anträge, ohne Versicherung keine Begehung.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EEE-Liste: ohne Eintrag keine Förderanträge. Zwei Dokumente. Kosten live zusammenrechnen: 100 € Prüfung je Modul, Jahresbeitrag 120 oder 170 €, alles zzgl. MwSt. DIBt: GEG-Benutzerkonto, 6,90 € je Registriernummer. Stufe 1 ist Statistik, Stufe 2 und 3 sind Behördenprüfung.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Blumenkasten-Beispiel: Fenster öffnen, Blumenkasten fällt, trifft eine Person. Fahrlässig, § 823 BGB, Betriebshaftpflicht. Beratungsfehler dagegen: Vermögensschadenhaftpflicht, Verstoß-Theorie. Wichtig: vorher abschließen, Nachhaftung. Regelheft EEE-Liste 1.1.2 verlangt eine passende Haftpflicht.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Akquise: aktive und passive Kanäle, beide nutzen. Erstes Projekt: Austausch, Angebot, Fördermittel identifizieren, beantragen. Sechs Erstinformationen im ersten Gespräch. Wichtig: Förderung beantragen, bevor das Vertragsverhältnis eingegangen wird. Angebot: Checkliste Vertragsgestaltung vom Gebäudeforum.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Ziele der Begehung. Wärmebildkamera: Wärmelecks und Schäden früh erkennen, aber ohne passende Randbedingungen und Schulung schnell fehlinterpretiert. Drei Checklisten nennen, virtuelle Begehung der Uni Kassel erwähnen.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Frage vorlesen, kurz warten, Handzeichen abfragen. Dann weiter zur Auflösung.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Auflösung: Personenschaden, fahrlässig, § 823 BGB. Beratungsfehler wären die Vermögensschadenhaftpflicht. Beide vor dem ersten Projekt abschließen.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Frage vorlesen, kurz warten, Handzeichen abfragen. Dann weiter zur Auflösung.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Auflösung: Die Förderung wird beantragt, bevor das Vertragsverhältnis eingegangen wird. Der Kunde stellt den Antrag online beim BAFA und gibt deine Beraternummer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Frage vorlesen, kurz warten, Handzeichen abfragen. Dann weiter zur Auflösung.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Auflösung: 2 × 100 € Prüfung + 200 € Referenzzuschlag + 170 € Jahresbeitrag + 10 € Nebenadresse = 580 € netto, 690,20 € mit MwSt.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drei Kernaussagen der Unterlage. Danke, Fragen?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5 · BLOCK 8 TEIL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Zertifikat zum ersten Projekt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nach dem Kurs zu tun ist. In drei Minuten, plus ein Quiz.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566928" cy="5669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35707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74320" y="40690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Listung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920240" y="3429000"/>
            <a:ext cx="566928" cy="566928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972" y="357073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40690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Energieausweise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91840" y="3429000"/>
            <a:ext cx="566928" cy="566928"/>
          </a:xfrm>
          <a:prstGeom prst="ellipse">
            <a:avLst/>
          </a:prstGeom>
          <a:solidFill>
            <a:srgbClr val="E9B400"/>
          </a:solidFill>
          <a:ln w="12700">
            <a:solidFill>
              <a:srgbClr val="E9B40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572" y="3570732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017520" y="40690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Versicherung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63440" y="3429000"/>
            <a:ext cx="566928" cy="566928"/>
          </a:xfrm>
          <a:prstGeom prst="ellipse">
            <a:avLst/>
          </a:prstGeom>
          <a:solidFill>
            <a:srgbClr val="9BBF2E"/>
          </a:solidFill>
          <a:ln w="12700">
            <a:solidFill>
              <a:srgbClr val="9BBF2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172" y="3570732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389120" y="40690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Akquise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035040" y="3429000"/>
            <a:ext cx="566928" cy="566928"/>
          </a:xfrm>
          <a:prstGeom prst="ellipse">
            <a:avLst/>
          </a:prstGeom>
          <a:solidFill>
            <a:srgbClr val="4CA64C"/>
          </a:solidFill>
          <a:ln w="12700">
            <a:solidFill>
              <a:srgbClr val="4CA64C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772" y="3570732"/>
            <a:ext cx="283464" cy="28346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60720" y="40690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Gespräch &amp; Angebot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7406640" y="3429000"/>
            <a:ext cx="566928" cy="566928"/>
          </a:xfrm>
          <a:prstGeom prst="ellipse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8372" y="3570732"/>
            <a:ext cx="283464" cy="28346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132320" y="40690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Begehung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ROTE FADEN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Sechs Stationen bis zum ersten Projekt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7223760" cy="0"/>
          </a:xfrm>
          <a:prstGeom prst="line">
            <a:avLst/>
          </a:prstGeom>
          <a:noFill/>
          <a:ln w="25400">
            <a:solidFill>
              <a:srgbClr val="D2DC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54480"/>
            <a:ext cx="640080" cy="64008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7145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Listung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EEE-Eintrag keine Förderanträge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0" y="1554480"/>
            <a:ext cx="640080" cy="64008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7145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87452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Energieausweise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96596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DIBt-Konto, 6,90 € je Nummer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703320" y="1554480"/>
            <a:ext cx="640080" cy="640080"/>
          </a:xfrm>
          <a:prstGeom prst="ellipse">
            <a:avLst/>
          </a:prstGeom>
          <a:solidFill>
            <a:srgbClr val="E9B400"/>
          </a:solidFill>
          <a:ln w="12700">
            <a:solidFill>
              <a:srgbClr val="E9B4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340" y="17145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38328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29184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Versicherung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38328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dem ersten Projekt abschließen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120640" y="1554480"/>
            <a:ext cx="640080" cy="640080"/>
          </a:xfrm>
          <a:prstGeom prst="ellipse">
            <a:avLst/>
          </a:prstGeom>
          <a:solidFill>
            <a:srgbClr val="9BBF2E"/>
          </a:solidFill>
          <a:ln w="12700">
            <a:solidFill>
              <a:srgbClr val="9BBF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660" y="17145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80060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B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470916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Akquise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80060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 und passiv, beides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537960" y="1554480"/>
            <a:ext cx="640080" cy="640080"/>
          </a:xfrm>
          <a:prstGeom prst="ellipse">
            <a:avLst/>
          </a:prstGeom>
          <a:solidFill>
            <a:srgbClr val="4CA64C"/>
          </a:solidFill>
          <a:ln w="12700">
            <a:solidFill>
              <a:srgbClr val="4CA64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17145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21792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6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12648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Gespräch &amp; Angebot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621792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Förderung vor Vertrag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955280" y="1554480"/>
            <a:ext cx="640080" cy="640080"/>
          </a:xfrm>
          <a:prstGeom prst="ellipse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171450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63524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754380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Begehung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63524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Bester Zeitpunkt für Daten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548640" y="397764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FF3C7"/>
          </a:solidFill>
          <a:ln w="12700">
            <a:solidFill>
              <a:srgbClr val="FFF3C7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77240" y="3977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Reihenfolge ist Programm: Erst gelistet, dann registriert, dann versichert. Und erst dann öffnet man bei einem Kunden ein Fenster.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384048"/>
            <a:ext cx="566928" cy="566928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12" y="525780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82880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1 UND 2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828800" y="566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Listung und Energieausweise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8 Teil 1 · Vom Zertifikat zum ersten Projekt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280160"/>
            <a:ext cx="3977640" cy="3337560"/>
          </a:xfrm>
          <a:prstGeom prst="roundRect">
            <a:avLst>
              <a:gd name="adj" fmla="val 2740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EEE-Liste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Voraussetzung für jeden Förderantrag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10312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Dokumente: Erklärung des Weiterbildungsanbieters + Hochschulzeugnis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 100 € je Modul, über Referenzen +200 €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Jahresbeitrag 120 € (ein Modul) / 170 € (zwei), Nebenadresse 10 €, alles zzgl. MwSt.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 starten: Bearbeitung nach Eingangsdatum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pflegen: Kurzbeschreibung, Leistungen, Netzwerk-Logo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09160" y="1280160"/>
            <a:ext cx="3977640" cy="3337560"/>
          </a:xfrm>
          <a:prstGeom prst="roundRect">
            <a:avLst>
              <a:gd name="adj" fmla="val 2740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Energieausweise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DIBt-Konto, 6,90 € je Nummer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210312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1 (DIBt): rein statistisch, keine Rückfragen, nur Nummern an die Behörde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2 + 3 (Bauaufsicht, § 99 GModG): unabhängige Stichproben, Antwort schriftlich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Neuausstellen ohne Aufforderung, Bußgeld bis 5.000 €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Übergabe an den Eigentümer macht den Ausweis rechtskräftig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Ausweis nach GModG noch nicht verfügbar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9B400"/>
          </a:solidFill>
          <a:ln w="12700">
            <a:solidFill>
              <a:srgbClr val="E9B4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657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3 · VERSICHERUNG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5669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Policen, zwei Welten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8 Teil 1 · Vom Zertifikat zum ersten Projekt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3977640" cy="2240280"/>
          </a:xfrm>
          <a:prstGeom prst="roundRect">
            <a:avLst>
              <a:gd name="adj" fmla="val 4082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0E6B5B"/>
          </a:solidFill>
          <a:ln w="12700">
            <a:solidFill>
              <a:srgbClr val="0E6B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53162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Betriebshaftpflicht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1691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Blumenkasten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0574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Personen- und Sachschäden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Haftung nach § 823 BGB: vorsätzlich oder fahrlässig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Ereignis und Schaden fallen sofort zusammen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3977640" cy="2240280"/>
          </a:xfrm>
          <a:prstGeom prst="roundRect">
            <a:avLst>
              <a:gd name="adj" fmla="val 4082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37760" y="1417320"/>
            <a:ext cx="457200" cy="457200"/>
          </a:xfrm>
          <a:prstGeom prst="ellipse">
            <a:avLst/>
          </a:prstGeom>
          <a:solidFill>
            <a:srgbClr val="0E6B5B"/>
          </a:solidFill>
          <a:ln w="12700">
            <a:solidFill>
              <a:srgbClr val="0E6B5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531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53212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Vermögensschadenhaftpflicht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5532120" y="1691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Beratungsfehler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937760" y="20574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Finanzielle Schäden bei Kunden oder Dritten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Verstoß-Theorie: Auslöser ist der Verstoß, der Schaden zeigt sich später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Passiver Rechtsschutz inklusive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3C7"/>
          </a:solidFill>
          <a:ln w="12700">
            <a:solidFill>
              <a:srgbClr val="FFF3C7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" y="36576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dem ersten Projekt abschließen. </a:t>
            </a:r>
            <a:pPr indent="0" marL="0">
              <a:buNone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Verstöße vor Vertragsbeginn sind nicht versichert. Auf Nachhaftung achten, die Haftung kann auf Erben übergehen. Die Prämie ist Betriebsausgabe.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Fragen vor dem Gespräch: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Leistungen? Welches Hauptgeschäftsfeld? Welche Risiken und welches Schadenspotenzial? Welcher Umsatz?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9BBF2E"/>
          </a:solidFill>
          <a:ln w="12700">
            <a:solidFill>
              <a:srgbClr val="9BB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384048"/>
            <a:ext cx="566928" cy="566928"/>
          </a:xfrm>
          <a:prstGeom prst="ellipse">
            <a:avLst/>
          </a:prstGeom>
          <a:solidFill>
            <a:srgbClr val="4CA64C"/>
          </a:solidFill>
          <a:ln w="12700">
            <a:solidFill>
              <a:srgbClr val="4CA64C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12" y="525780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82880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4 UND 5 · AKQUISE, GESPRÄCH, ANGEBOT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828800" y="566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Kontakt zum Auftrag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8 Teil 1 · Vom Zertifikat zum ersten Projekt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280160"/>
            <a:ext cx="3749040" cy="3337560"/>
          </a:xfrm>
          <a:prstGeom prst="roundRect">
            <a:avLst>
              <a:gd name="adj" fmla="val 2740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Akquise: beide Kanäle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828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10312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Partner-Berater:innen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GIH oder DEN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Multiplikatoren: Zimmerer, Schornsteinfeger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Architekturbüros über BDB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514600" y="1828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514600" y="2103120"/>
            <a:ext cx="1554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EEE-Liste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Webseite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Google-Maps-Eintrag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80560" y="128016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0916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Erstes Projekt: vier Schritte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4709160" y="1810512"/>
            <a:ext cx="237744" cy="237744"/>
          </a:xfrm>
          <a:prstGeom prst="ellipse">
            <a:avLst/>
          </a:prstGeom>
          <a:solidFill>
            <a:srgbClr val="4CA64C"/>
          </a:solidFill>
          <a:ln w="12700">
            <a:solidFill>
              <a:srgbClr val="4CA64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09160" y="1810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029200" y="1810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Austausch, Projektziel abstimmen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709160" y="2130552"/>
            <a:ext cx="237744" cy="237744"/>
          </a:xfrm>
          <a:prstGeom prst="ellipse">
            <a:avLst/>
          </a:prstGeom>
          <a:solidFill>
            <a:srgbClr val="4CA64C"/>
          </a:solidFill>
          <a:ln w="12700">
            <a:solidFill>
              <a:srgbClr val="4CA64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709160" y="2130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5029200" y="21305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 erstellen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709160" y="2450592"/>
            <a:ext cx="237744" cy="237744"/>
          </a:xfrm>
          <a:prstGeom prst="ellipse">
            <a:avLst/>
          </a:prstGeom>
          <a:solidFill>
            <a:srgbClr val="4CA64C"/>
          </a:solidFill>
          <a:ln w="12700">
            <a:solidFill>
              <a:srgbClr val="4CA64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70916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029200" y="24505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Fördermittel identifizieren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709160" y="2770632"/>
            <a:ext cx="237744" cy="237744"/>
          </a:xfrm>
          <a:prstGeom prst="ellipse">
            <a:avLst/>
          </a:prstGeom>
          <a:solidFill>
            <a:srgbClr val="4CA64C"/>
          </a:solidFill>
          <a:ln w="12700">
            <a:solidFill>
              <a:srgbClr val="4CA64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709160" y="2770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5029200" y="27706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Fördermittel beantragen, für die Beratung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480560" y="3291840"/>
            <a:ext cx="4206240" cy="1325880"/>
          </a:xfrm>
          <a:prstGeom prst="roundRect">
            <a:avLst>
              <a:gd name="adj" fmla="val 6897"/>
            </a:avLst>
          </a:prstGeom>
          <a:solidFill>
            <a:srgbClr val="FFF3C7"/>
          </a:solidFill>
          <a:ln w="12700">
            <a:solidFill>
              <a:srgbClr val="FFF3C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709160" y="329184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Gespräch klären: </a:t>
            </a:r>
            <a:pPr indent="0" marL="0">
              <a:buNone/>
            </a:pPr>
            <a:r>
              <a:rPr lang="en-US" sz="115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Umfang, Zeitrahmen, Verhältnis zum Gebäude, frühere Beratung, Kosten, Bedingungen.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Förderung vor Vertragsschluss: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Kunde beantragt online beim BAFA mit deiner Beraternummer. Das Angebot beschreibt die Leistung klar, mit Preis, Förderhöhe und Fristen.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7A4E"/>
          </a:solidFill>
          <a:ln w="12700">
            <a:solidFill>
              <a:srgbClr val="1E7A4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657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5669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Vor-Ort-Begehung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8 Teil 1 · Vom Zertifikat zum ersten Projekt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0E6B5B"/>
          </a:solidFill>
          <a:ln w="12700">
            <a:solidFill>
              <a:srgbClr val="0E6B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163449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1280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Persönliches Kennenlernen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246120" y="1280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29000" y="1508760"/>
            <a:ext cx="502920" cy="502920"/>
          </a:xfrm>
          <a:prstGeom prst="ellipse">
            <a:avLst/>
          </a:prstGeom>
          <a:solidFill>
            <a:srgbClr val="0E6B5B"/>
          </a:solidFill>
          <a:ln w="12700">
            <a:solidFill>
              <a:srgbClr val="0E6B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730" y="163449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69080" y="1280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Sanierungsziel bestimmen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035040" y="1280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17920" y="1508760"/>
            <a:ext cx="502920" cy="502920"/>
          </a:xfrm>
          <a:prstGeom prst="ellipse">
            <a:avLst/>
          </a:prstGeom>
          <a:solidFill>
            <a:srgbClr val="0E6B5B"/>
          </a:solidFill>
          <a:ln w="12700">
            <a:solidFill>
              <a:srgbClr val="0E6B5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63449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58000" y="1280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Datenerfassung mit Checkliste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2423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0E6B5B"/>
          </a:solidFill>
          <a:ln w="12700">
            <a:solidFill>
              <a:srgbClr val="0E6B5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277749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2423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Fördermittel und nächste Schritte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3246120" y="2423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3429000" y="2651760"/>
            <a:ext cx="502920" cy="502920"/>
          </a:xfrm>
          <a:prstGeom prst="ellipse">
            <a:avLst/>
          </a:prstGeom>
          <a:solidFill>
            <a:srgbClr val="0E6B5B"/>
          </a:solidFill>
          <a:ln w="12700">
            <a:solidFill>
              <a:srgbClr val="0E6B5B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4730" y="277749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069080" y="2423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Sonderwünsche abklären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035040" y="24231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217920" y="2651760"/>
            <a:ext cx="502920" cy="5029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2777490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858000" y="2423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Thermografie nur mit Schulung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3C7"/>
          </a:solidFill>
          <a:ln w="12700">
            <a:solidFill>
              <a:srgbClr val="FFF3C7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685800" y="3611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freie Checklisten: </a:t>
            </a:r>
            <a:pPr indent="0" marL="0">
              <a:buNone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Energieberatungstag (Rosenheim / GIH Bayern), Vorabgespräch mit dem Eigentümer (BAFA / FEBS), Datenaufnahme (Gebäudeforum). Dazu die virtuelle Gebäudebegehung der Uni Kassel zum Üben.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Begehung ist der beste Zeitpunkt, um Daten zu sammeln. Was Kund:innen wünschen und was möglich ist, deckt sich nicht immer.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FRAGE 1 VON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einer Begehung öffnest du ein Fenster, um die Wanddicke zu messen, und stößt einen Blumenkasten hinunter. Er trifft eine Person.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Versicherung reguliert?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Betriebshaftpflicht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Vermögensschadenhaftpflicht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Rechtsschutz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Handzeichen: A, B oder C?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FRAGE 1 VON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einer Begehung öffnest du ein Fenster, um die Wanddicke zu messen, und stößt einen Blumenkasten hinunter. Er trifft eine Person.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Versicherung reguliert?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237A41"/>
          </a:solidFill>
          <a:ln w="19050">
            <a:solidFill>
              <a:srgbClr val="237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Betriebshaftpflicht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242316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4612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Vermögensschadenhaftpflicht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2648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Rechtsschutz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56616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1D4540"/>
          </a:solidFill>
          <a:ln w="12700">
            <a:solidFill>
              <a:srgbClr val="1D45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5661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Auflösung: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Personenschaden, fahrlässig, § 823 BGB. Beratungsfehler wären die Vermögensschadenhaftpflicht. Beide vor dem ersten Projekt abschließen.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FRAGE 2 VON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 Weber hat dein Angebot für den Vor-Ort-Termin und will sofort den Vertrag unterschreiben.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muss vorher passieren?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Nichts, erst Vertrag, dann Förderung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stellt den BAFA-Antrag mit deiner Beraternummer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stellst den Antrag für ihn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Handzeichen: A, B oder C?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FRAGE 2 VON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 Weber hat dein Angebot für den Vor-Ort-Termin und will sofort den Vertrag unterschreiben.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muss vorher passieren?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Nichts, erst Vertrag, dann Förderung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237A41"/>
          </a:solidFill>
          <a:ln w="19050">
            <a:solidFill>
              <a:srgbClr val="237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stellt den BAFA-Antrag mit deiner Beraternummer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2423160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2648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stellst den Antrag für ihn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56616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1D4540"/>
          </a:solidFill>
          <a:ln w="12700">
            <a:solidFill>
              <a:srgbClr val="1D45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5661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Auflösung: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Förderung wird beantragt, bevor das Vertragsverhältnis eingegangen wird. Der Kunde stellt den Antrag online beim BAFA und gibt deine Beraternummer an.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FRAGE 3 VON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Module, Eintragung über Referenzen, eine Nebenadresse.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kostet die Listung im ersten Jahr?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220 € netto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370 € netto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580 € netto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Handzeichen: A, B oder C?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FRAGE 3 VON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Module, Eintragung über Referenzen, eine Nebenadresse.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kostet die Listung im ersten Jahr?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220 € netto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D4540"/>
          </a:solidFill>
          <a:ln w="19050">
            <a:solidFill>
              <a:srgbClr val="2F5C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370 € netto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237A41"/>
          </a:solidFill>
          <a:ln w="19050">
            <a:solidFill>
              <a:srgbClr val="237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580 € netto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423160"/>
            <a:ext cx="274320" cy="2743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356616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1D4540"/>
          </a:solidFill>
          <a:ln w="12700">
            <a:solidFill>
              <a:srgbClr val="1D45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5661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Auflösung: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100 € Prüfung + 200 € Referenzzuschlag + 170 € Jahresbeitrag + 10 € Nebenadresse = 580 € netto, 690,20 € mit MwSt.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MITNEHMEN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Kernaussagen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4173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EEE-Liste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70992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Frühzeitig registrieren, das Profil aussagekräftig machen. Ohne Eintrag keine Förderanträge.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2514600"/>
            <a:ext cx="548640" cy="548640"/>
          </a:xfrm>
          <a:prstGeom prst="ellipse">
            <a:avLst/>
          </a:prstGeom>
          <a:solidFill>
            <a:srgbClr val="E9B400"/>
          </a:solidFill>
          <a:ln w="12700">
            <a:solidFill>
              <a:srgbClr val="E9B4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51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4688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Versicherung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76148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definieren, welche Leistungen man anbietet, und dann den passenden Schutz suchen. Vor dem ersten Projekt.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566160"/>
            <a:ext cx="548640" cy="548640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033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5204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Energieausweise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81304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Prüfen, ob ein Ausweis überhaupt nötig ist. Profil beim DIBt anlegen und Nummern bestellen.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Grundlage: Zusammenfassung Paket 5, Block 8 Teil 1, v3.0 (14.08.2026)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Vom Zertifikat zum ersten Projekt</dc:title>
  <dc:subject>PptxGenJS Presentation</dc:subject>
  <dc:creator>Lerngruppe Energieberatung</dc:creator>
  <cp:lastModifiedBy>Lerngruppe Energieberatung</cp:lastModifiedBy>
  <cp:revision>1</cp:revision>
  <dcterms:created xsi:type="dcterms:W3CDTF">2026-09-16T15:17:39Z</dcterms:created>
  <dcterms:modified xsi:type="dcterms:W3CDTF">2026-09-16T15:17:39Z</dcterms:modified>
</cp:coreProperties>
</file>